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55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031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Diagrama Entidade-Relacionamento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455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Loja de Vinhos "Vinha D'Ouro"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3520440"/>
            <a:ext cx="2743200" cy="27432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Dados  •  Universidade Lusófona  •  Grupo 13  •  2025/2026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4160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Gomes  •  Eduardo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4556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Visão Geral do Projeto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64008" cy="3474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 o Sistema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para uma loja de vinhos que permite gerir clientes, vendas, stock, avaliações e operações dos funcionários.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Entidades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Relacionamentos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Regras de Negócio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749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51560"/>
            <a:ext cx="64008" cy="1005840"/>
          </a:xfrm>
          <a:prstGeom prst="rect">
            <a:avLst/>
          </a:prstGeom>
          <a:solidFill>
            <a:srgbClr val="C4556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28016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06440" y="1143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80644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46320" y="2286000"/>
            <a:ext cx="3749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2286000"/>
            <a:ext cx="64008" cy="1005840"/>
          </a:xfrm>
          <a:prstGeom prst="rect">
            <a:avLst/>
          </a:prstGeom>
          <a:solidFill>
            <a:srgbClr val="C4556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51460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80644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4000" dirty="0"/>
          </a:p>
        </p:txBody>
      </p:sp>
      <p:sp>
        <p:nvSpPr>
          <p:cNvPr id="18" name="Text 14"/>
          <p:cNvSpPr/>
          <p:nvPr/>
        </p:nvSpPr>
        <p:spPr>
          <a:xfrm>
            <a:off x="580644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846320" y="3520440"/>
            <a:ext cx="3749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846320" y="3520440"/>
            <a:ext cx="64008" cy="1005840"/>
          </a:xfrm>
          <a:prstGeom prst="rect">
            <a:avLst/>
          </a:prstGeom>
          <a:solidFill>
            <a:srgbClr val="C4556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74904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806440" y="3611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23" name="Text 18"/>
          <p:cNvSpPr/>
          <p:nvPr/>
        </p:nvSpPr>
        <p:spPr>
          <a:xfrm>
            <a:off x="580644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B1929"/>
          </a:solidFill>
          <a:ln/>
        </p:spPr>
      </p:sp>
      <p:sp>
        <p:nvSpPr>
          <p:cNvPr id="25" name="Text 20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Vinha D'Ouro  •  Diagrama ER  •  Grupo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5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Diagrama Entidade-Relacionamento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731520"/>
            <a:ext cx="886968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Notação de Chen  •  10 Entidades  •  13 Relacionamentos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Entidades da Base de Dados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868680"/>
            <a:ext cx="1965960" cy="36576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978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Pessoas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5488" y="13441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nome, email, telefone, nif, tipo, data_registo, password, morada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468880" y="86868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68880" y="868680"/>
            <a:ext cx="1965960" cy="36576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0058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0360" y="978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Funcionários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560320" y="13441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cargo, salario, ativo, data_admissao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53712" y="86868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53712" y="868680"/>
            <a:ext cx="1965960" cy="36576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10058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65192" y="978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Vendas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45152" y="13441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data_venda, metodo_pagamento, estado, total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638544" y="86868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38544" y="868680"/>
            <a:ext cx="1965960" cy="36576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10058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50024" y="978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Itens_Venda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729984" y="13441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quantidade, preco_unit, subtotal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384048" y="203911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84048" y="2039112"/>
            <a:ext cx="1965960" cy="36576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17627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5528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Vinhos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75488" y="2514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nome, tipo, regiao, pais, localizacao, ativo, stock_minimo, ano, casta, teor_alcoolico, descricao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2468880" y="203911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468880" y="2039112"/>
            <a:ext cx="1965960" cy="36576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2032" y="217627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88036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Avaliações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2560320" y="2514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nota, comentario, data_avaliacao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4553712" y="203911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553712" y="2039112"/>
            <a:ext cx="1965960" cy="36576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864" y="2176272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965192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Log_Operações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4645152" y="2514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tipo_operacao, descricao, data_hora</a:t>
            </a:r>
            <a:endParaRPr lang="en-US" sz="850" dirty="0"/>
          </a:p>
        </p:txBody>
      </p:sp>
      <p:sp>
        <p:nvSpPr>
          <p:cNvPr id="39" name="Shape 30"/>
          <p:cNvSpPr/>
          <p:nvPr/>
        </p:nvSpPr>
        <p:spPr>
          <a:xfrm>
            <a:off x="6638544" y="2039112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638544" y="2039112"/>
            <a:ext cx="1965960" cy="36576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1696" y="2176272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050024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Carrinho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6729984" y="2514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data_criacao, estado</a:t>
            </a:r>
            <a:endParaRPr lang="en-US" sz="850" dirty="0"/>
          </a:p>
        </p:txBody>
      </p:sp>
      <p:sp>
        <p:nvSpPr>
          <p:cNvPr id="44" name="Shape 34"/>
          <p:cNvSpPr/>
          <p:nvPr/>
        </p:nvSpPr>
        <p:spPr>
          <a:xfrm>
            <a:off x="384048" y="3209544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384048" y="3209544"/>
            <a:ext cx="1965960" cy="36576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346704"/>
            <a:ext cx="274320" cy="27432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95528" y="3319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Itens_Carrinho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475488" y="36850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quantidade</a:t>
            </a:r>
            <a:endParaRPr lang="en-US" sz="850" dirty="0"/>
          </a:p>
        </p:txBody>
      </p:sp>
      <p:sp>
        <p:nvSpPr>
          <p:cNvPr id="49" name="Shape 38"/>
          <p:cNvSpPr/>
          <p:nvPr/>
        </p:nvSpPr>
        <p:spPr>
          <a:xfrm>
            <a:off x="2468880" y="3209544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2468880" y="3209544"/>
            <a:ext cx="1965960" cy="36576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2032" y="3346704"/>
            <a:ext cx="274320" cy="27432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2880360" y="3319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Tamanhos</a:t>
            </a:r>
            <a:endParaRPr lang="en-US" sz="1200" dirty="0"/>
          </a:p>
        </p:txBody>
      </p:sp>
      <p:sp>
        <p:nvSpPr>
          <p:cNvPr id="53" name="Text 41"/>
          <p:cNvSpPr/>
          <p:nvPr/>
        </p:nvSpPr>
        <p:spPr>
          <a:xfrm>
            <a:off x="2560320" y="36850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volume_ml, designacao, preco, stock, ativo</a:t>
            </a:r>
            <a:endParaRPr lang="en-US" sz="850" dirty="0"/>
          </a:p>
        </p:txBody>
      </p:sp>
      <p:sp>
        <p:nvSpPr>
          <p:cNvPr id="5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B1929"/>
          </a:solidFill>
          <a:ln/>
        </p:spPr>
      </p:sp>
      <p:sp>
        <p:nvSpPr>
          <p:cNvPr id="55" name="Text 43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Vinha D'Ouro  •  Diagrama ER  •  Grupo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Relacionamentos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868680"/>
            <a:ext cx="54864" cy="530352"/>
          </a:xfrm>
          <a:prstGeom prst="rect">
            <a:avLst/>
          </a:prstGeom>
          <a:solidFill>
            <a:srgbClr val="C455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9144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pPr indent="0" marL="0">
              <a:buNone/>
            </a:pPr>
            <a:r>
              <a:rPr lang="en-US" sz="1100" b="1" dirty="0">
                <a:solidFill>
                  <a:srgbClr val="C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REALIZA  </a:t>
            </a:r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94760" y="91440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463040"/>
            <a:ext cx="54864" cy="530352"/>
          </a:xfrm>
          <a:prstGeom prst="rect">
            <a:avLst/>
          </a:prstGeom>
          <a:solidFill>
            <a:srgbClr val="C4556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0876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508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pPr indent="0" marL="0">
              <a:buNone/>
            </a:pPr>
            <a:r>
              <a:rPr lang="en-US" sz="1100" b="1" dirty="0">
                <a:solidFill>
                  <a:srgbClr val="C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CONTÉM  </a:t>
            </a:r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Itens_Venda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4760" y="150876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205740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057400"/>
            <a:ext cx="54864" cy="530352"/>
          </a:xfrm>
          <a:prstGeom prst="rect">
            <a:avLst/>
          </a:prstGeom>
          <a:solidFill>
            <a:srgbClr val="C4556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0312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103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Itens_Venda</a:t>
            </a:r>
            <a:pPr indent="0" marL="0">
              <a:buNone/>
            </a:pPr>
            <a:r>
              <a:rPr lang="en-US" sz="1100" b="1" dirty="0">
                <a:solidFill>
                  <a:srgbClr val="C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REFERE  </a:t>
            </a:r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4760" y="21031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N:1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265176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651760"/>
            <a:ext cx="54864" cy="530352"/>
          </a:xfrm>
          <a:prstGeom prst="rect">
            <a:avLst/>
          </a:prstGeom>
          <a:solidFill>
            <a:srgbClr val="C455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69748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26974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pPr indent="0" marL="0">
              <a:buNone/>
            </a:pPr>
            <a:r>
              <a:rPr lang="en-US" sz="1100" b="1" dirty="0">
                <a:solidFill>
                  <a:srgbClr val="C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É_UMA  </a:t>
            </a:r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94760" y="269748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" y="324612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246120"/>
            <a:ext cx="54864" cy="530352"/>
          </a:xfrm>
          <a:prstGeom prst="rect">
            <a:avLst/>
          </a:prstGeom>
          <a:solidFill>
            <a:srgbClr val="C4556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29184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291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Funcionários</a:t>
            </a:r>
            <a:pPr indent="0" marL="0">
              <a:buNone/>
            </a:pPr>
            <a:r>
              <a:rPr lang="en-US" sz="1100" b="1" dirty="0">
                <a:solidFill>
                  <a:srgbClr val="C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PROCESSA  </a:t>
            </a:r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94760" y="329184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2920" y="384048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3840480"/>
            <a:ext cx="54864" cy="530352"/>
          </a:xfrm>
          <a:prstGeom prst="rect">
            <a:avLst/>
          </a:prstGeom>
          <a:solidFill>
            <a:srgbClr val="C4556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88620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3886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Funcionários</a:t>
            </a:r>
            <a:pPr indent="0" marL="0">
              <a:buNone/>
            </a:pPr>
            <a:r>
              <a:rPr lang="en-US" sz="1100" b="1" dirty="0">
                <a:solidFill>
                  <a:srgbClr val="C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REGISTA  </a:t>
            </a:r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Log_Operações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94760" y="388620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2920" y="443484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2920" y="4434840"/>
            <a:ext cx="54864" cy="530352"/>
          </a:xfrm>
          <a:prstGeom prst="rect">
            <a:avLst/>
          </a:prstGeom>
          <a:solidFill>
            <a:srgbClr val="C4556E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48056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60120" y="44805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pPr indent="0" marL="0">
              <a:buNone/>
            </a:pPr>
            <a:r>
              <a:rPr lang="en-US" sz="1100" b="1" dirty="0">
                <a:solidFill>
                  <a:srgbClr val="C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ORIGINA  </a:t>
            </a:r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94760" y="448056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709160" y="86868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868680"/>
            <a:ext cx="54864" cy="530352"/>
          </a:xfrm>
          <a:prstGeom prst="rect">
            <a:avLst/>
          </a:prstGeom>
          <a:solidFill>
            <a:srgbClr val="C4556E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91440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166360" y="9144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</a:t>
            </a:r>
            <a:pPr indent="0" marL="0">
              <a:buNone/>
            </a:pPr>
            <a:r>
              <a:rPr lang="en-US" sz="1100" b="1" dirty="0">
                <a:solidFill>
                  <a:srgbClr val="C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SOBRE  </a:t>
            </a:r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01000" y="91440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N:1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709160" y="146304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1463040"/>
            <a:ext cx="54864" cy="530352"/>
          </a:xfrm>
          <a:prstGeom prst="rect">
            <a:avLst/>
          </a:prstGeom>
          <a:solidFill>
            <a:srgbClr val="C4556E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150876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166360" y="1508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pPr indent="0" marL="0">
              <a:buNone/>
            </a:pPr>
            <a:r>
              <a:rPr lang="en-US" sz="1100" b="1" dirty="0">
                <a:solidFill>
                  <a:srgbClr val="C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POSSUI  </a:t>
            </a:r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001000" y="150876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709160" y="205740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2057400"/>
            <a:ext cx="54864" cy="530352"/>
          </a:xfrm>
          <a:prstGeom prst="rect">
            <a:avLst/>
          </a:prstGeom>
          <a:solidFill>
            <a:srgbClr val="C4556E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210312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166360" y="2103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</a:t>
            </a:r>
            <a:pPr indent="0" marL="0">
              <a:buNone/>
            </a:pPr>
            <a:r>
              <a:rPr lang="en-US" sz="1100" b="1" dirty="0">
                <a:solidFill>
                  <a:srgbClr val="C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CONVERTE  </a:t>
            </a:r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001000" y="21031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1:1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709160" y="265176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09160" y="2651760"/>
            <a:ext cx="54864" cy="530352"/>
          </a:xfrm>
          <a:prstGeom prst="rect">
            <a:avLst/>
          </a:prstGeom>
          <a:solidFill>
            <a:srgbClr val="C4556E"/>
          </a:solidFill>
          <a:ln/>
        </p:spPr>
      </p:sp>
      <p:sp>
        <p:nvSpPr>
          <p:cNvPr id="56" name="Text 54"/>
          <p:cNvSpPr/>
          <p:nvPr/>
        </p:nvSpPr>
        <p:spPr>
          <a:xfrm>
            <a:off x="4846320" y="269748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166360" y="26974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</a:t>
            </a:r>
            <a:pPr indent="0" marL="0">
              <a:buNone/>
            </a:pPr>
            <a:r>
              <a:rPr lang="en-US" sz="1100" b="1" dirty="0">
                <a:solidFill>
                  <a:srgbClr val="C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TEM  </a:t>
            </a:r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001000" y="269748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709160" y="324612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709160" y="3246120"/>
            <a:ext cx="54864" cy="530352"/>
          </a:xfrm>
          <a:prstGeom prst="rect">
            <a:avLst/>
          </a:prstGeom>
          <a:solidFill>
            <a:srgbClr val="C4556E"/>
          </a:solidFill>
          <a:ln/>
        </p:spPr>
      </p:sp>
      <p:sp>
        <p:nvSpPr>
          <p:cNvPr id="61" name="Text 59"/>
          <p:cNvSpPr/>
          <p:nvPr/>
        </p:nvSpPr>
        <p:spPr>
          <a:xfrm>
            <a:off x="4846320" y="329184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5166360" y="3291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</a:t>
            </a:r>
            <a:pPr indent="0" marL="0">
              <a:buNone/>
            </a:pPr>
            <a:r>
              <a:rPr lang="en-US" sz="1100" b="1" dirty="0">
                <a:solidFill>
                  <a:srgbClr val="C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INCLUI  </a:t>
            </a:r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Itens_Carrinho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001000" y="329184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709160" y="3840480"/>
            <a:ext cx="3931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709160" y="3840480"/>
            <a:ext cx="54864" cy="530352"/>
          </a:xfrm>
          <a:prstGeom prst="rect">
            <a:avLst/>
          </a:prstGeom>
          <a:solidFill>
            <a:srgbClr val="C4556E"/>
          </a:solidFill>
          <a:ln/>
        </p:spPr>
      </p:sp>
      <p:sp>
        <p:nvSpPr>
          <p:cNvPr id="66" name="Text 64"/>
          <p:cNvSpPr/>
          <p:nvPr/>
        </p:nvSpPr>
        <p:spPr>
          <a:xfrm>
            <a:off x="4846320" y="388620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5166360" y="3886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Itens_Carrinho</a:t>
            </a:r>
            <a:pPr indent="0" marL="0">
              <a:buNone/>
            </a:pPr>
            <a:r>
              <a:rPr lang="en-US" sz="1100" b="1" dirty="0">
                <a:solidFill>
                  <a:srgbClr val="C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ASSOCIA  </a:t>
            </a:r>
            <a:pPr indent="0" marL="0">
              <a:buNone/>
            </a:pPr>
            <a:r>
              <a:rPr lang="en-US" sz="1100" b="1" dirty="0">
                <a:solidFill>
                  <a:srgbClr val="3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001000" y="388620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N:1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B1929"/>
          </a:solidFill>
          <a:ln/>
        </p:spPr>
      </p:sp>
      <p:sp>
        <p:nvSpPr>
          <p:cNvPr id="70" name="Text 68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Vinha D'Ouro  •  Diagrama ER  •  Grupo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Regras de Negócio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64008" cy="10972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23444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34416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1430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Avaliações ligadas a Vendas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37360" y="15087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clientes que efetuaram uma compra podem avaliar os vinhos. As avaliações estão ligadas às Vendas (ORIGINA), não diretamente às Pessoas.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331720"/>
            <a:ext cx="64008" cy="10972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2" name="Shape 9"/>
          <p:cNvSpPr/>
          <p:nvPr/>
        </p:nvSpPr>
        <p:spPr>
          <a:xfrm>
            <a:off x="868680" y="256032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67004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24688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Vinhos com múltiplos tamanhos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737360" y="28346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vinho pode existir em diferentes formatos: 375ml, 750ml, 1500ml (Magnum). Cada tamanho tem o seu próprio preço e stock.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657600"/>
            <a:ext cx="64008" cy="10972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88620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99592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37947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Carrinho de compras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737360" y="4160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clientes adicionam vinhos ao Carrinho antes de finalizar a compra. O Carrinho converte-se numa Venda quando o pagamento é confirmado (relação 1:1).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B1929"/>
          </a:solidFill>
          <a:ln/>
        </p:spPr>
      </p:sp>
      <p:sp>
        <p:nvSpPr>
          <p:cNvPr id="23" name="Text 18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Vinha D'Ouro  •  Diagrama ER  •  Grupo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55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73152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5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Dúvidas ou sugestões?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657600"/>
            <a:ext cx="2743200" cy="27432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Gomes  •  Eduardo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Lusófona  •  Grupo 13  •  2025/2026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455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ER — Loja de Vinhos Vinha D'Ouro</dc:title>
  <dc:subject>PptxGenJS Presentation</dc:subject>
  <dc:creator>Pedro Gomes</dc:creator>
  <cp:lastModifiedBy>Pedro Gomes</cp:lastModifiedBy>
  <cp:revision>1</cp:revision>
  <dcterms:created xsi:type="dcterms:W3CDTF">2026-03-25T10:16:03Z</dcterms:created>
  <dcterms:modified xsi:type="dcterms:W3CDTF">2026-03-25T10:16:03Z</dcterms:modified>
</cp:coreProperties>
</file>